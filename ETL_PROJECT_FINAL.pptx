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9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C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7CB04-5E80-C87F-A8EE-A9DC99E23844}" v="2269" dt="2026-07-20T18:40:10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04A8E-CBDD-48B0-A3E5-3769AC677ED0}" type="datetimeFigureOut"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87C3F-E9AE-4EBE-9CBC-7029357490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7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5C17-B6E6-AC66-2184-E538CCAF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1DCF7-3DCE-F0E3-66EB-5B753CFB2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C9B58-04D0-A5FB-4BDE-2B005A35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31950-C4FD-980F-3302-D19EF71F3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57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931817" y="1349103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DATA ENGINEERING PROJECT</a:t>
            </a:r>
            <a:endParaRPr lang="en-US" sz="1300">
              <a:solidFill>
                <a:srgbClr val="02C39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931817" y="1346926"/>
            <a:ext cx="6296300" cy="22235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 sz="4400">
                <a:solidFill>
                  <a:srgbClr val="FFFFFF"/>
                </a:solidFill>
                <a:ea typeface="+mn-lt"/>
                <a:cs typeface="+mn-lt"/>
              </a:rPr>
              <a:t>End-to-End ETL Pipeline for E-Commerce Analytics</a:t>
            </a:r>
            <a:endParaRPr lang="en-US" sz="4400">
              <a:ea typeface="+mn-lt"/>
              <a:cs typeface="+mn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1817" y="3202578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>
                <a:solidFill>
                  <a:srgbClr val="CADCFC"/>
                </a:solidFill>
                <a:ea typeface="+mn-lt"/>
                <a:cs typeface="+mn-lt"/>
              </a:rPr>
              <a:t>Data Ingestion • Validation • Transformation • Data Warehouse • Analytics Dashboard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5623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5623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4680" y="6172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5623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0" y="6172200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>
                <a:solidFill>
                  <a:srgbClr val="CADCFC"/>
                </a:solidFill>
                <a:ea typeface="Calibri"/>
                <a:cs typeface="Calibri"/>
              </a:rPr>
              <a:t>Warehouse Tables</a:t>
            </a:r>
            <a:endParaRPr lang="en-US" sz="11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18120" y="5623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18120" y="6172200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Dashboard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D85DD-90D3-F8E2-FD7E-E3434D4D68FA}"/>
              </a:ext>
            </a:extLst>
          </p:cNvPr>
          <p:cNvSpPr txBox="1"/>
          <p:nvPr/>
        </p:nvSpPr>
        <p:spPr>
          <a:xfrm>
            <a:off x="981899" y="4305175"/>
            <a:ext cx="2619830" cy="653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Prepared by: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Ajay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2868" y="2280920"/>
            <a:ext cx="5824584" cy="318007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02C39A"/>
                </a:solidFill>
                <a:latin typeface="Calibri"/>
                <a:ea typeface="Calibri" panose="020F0502020204030204"/>
                <a:cs typeface="Calibri"/>
              </a:rPr>
              <a:t>Key Challenges :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 panose="020F0502020204030204"/>
                <a:cs typeface="Calibri"/>
              </a:rPr>
              <a:t>Multiple input formats (CSV, JSON, TSV, LOG)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 panose="020F0502020204030204"/>
                <a:cs typeface="Calibri"/>
              </a:rPr>
              <a:t>Missing, duplicate, and inconsistent records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 panose="020F0502020204030204"/>
                <a:cs typeface="Calibri"/>
              </a:rPr>
              <a:t>Invalid customer and product references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 panose="020F0502020204030204"/>
                <a:cs typeface="Calibri"/>
              </a:rPr>
              <a:t>Different currencies requiring standardization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 panose="020F0502020204030204"/>
                <a:cs typeface="Calibri"/>
              </a:rPr>
              <a:t>Raw data unsuitable for direct analytics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lnSpc>
                <a:spcPct val="125000"/>
              </a:lnSpc>
              <a:buNone/>
            </a:pPr>
            <a:endParaRPr lang="en-US" sz="1450" dirty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52BA1B-D6B6-C722-C9D1-A3CACCA37914}"/>
              </a:ext>
            </a:extLst>
          </p:cNvPr>
          <p:cNvSpPr txBox="1"/>
          <p:nvPr/>
        </p:nvSpPr>
        <p:spPr>
          <a:xfrm>
            <a:off x="5497832" y="2483133"/>
            <a:ext cx="6560456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2C39A"/>
                </a:solidFill>
              </a:rPr>
              <a:t>Project Objectives :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Design a modular and maintainable ETL pipeline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Validate and cleanse incoming data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Apply business transformation rules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Generate analytics-ready fact and dimension tables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✔ Deliver business insights through an interactive dashboard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77D971-C674-B8CA-44E6-41255049FE56}"/>
              </a:ext>
            </a:extLst>
          </p:cNvPr>
          <p:cNvSpPr txBox="1"/>
          <p:nvPr/>
        </p:nvSpPr>
        <p:spPr>
          <a:xfrm>
            <a:off x="272987" y="1056859"/>
            <a:ext cx="567508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2C39A"/>
                </a:solidFill>
                <a:ea typeface="+mn-lt"/>
                <a:cs typeface="+mn-lt"/>
              </a:rPr>
              <a:t>Business Problem :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Multiple heterogeneous data sources 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Poor data quality 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No centralized analytical dataset </a:t>
            </a:r>
            <a:endParaRPr lang="en-US" sz="20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E3A4DC2-C579-E7E9-A7C5-E08F2B311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20" r="2319" b="18310"/>
          <a:stretch>
            <a:fillRect/>
          </a:stretch>
        </p:blipFill>
        <p:spPr>
          <a:xfrm>
            <a:off x="2278744" y="4847106"/>
            <a:ext cx="7336977" cy="14451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0B72CA-B8B5-1A03-A2C3-E5ACA7190695}"/>
              </a:ext>
            </a:extLst>
          </p:cNvPr>
          <p:cNvSpPr txBox="1"/>
          <p:nvPr/>
        </p:nvSpPr>
        <p:spPr>
          <a:xfrm>
            <a:off x="274096" y="392723"/>
            <a:ext cx="100075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02C39A"/>
                </a:solidFill>
                <a:ea typeface="Calibri"/>
                <a:cs typeface="Calibri"/>
              </a:rPr>
              <a:t>Business Problem and Project </a:t>
            </a:r>
            <a:r>
              <a:rPr lang="en-US" sz="3200" b="1">
                <a:solidFill>
                  <a:srgbClr val="02C39A"/>
                </a:solidFill>
                <a:ea typeface="Calibri"/>
                <a:cs typeface="Calibri"/>
              </a:rPr>
              <a:t>Objectives</a:t>
            </a:r>
            <a:endParaRPr lang="en-US" sz="3200" b="1" dirty="0">
              <a:solidFill>
                <a:srgbClr val="02C39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12" y="324395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 dirty="0">
                <a:solidFill>
                  <a:srgbClr val="02C39A"/>
                </a:solidFill>
              </a:rPr>
              <a:t>Solution </a:t>
            </a:r>
            <a:r>
              <a:rPr lang="en-US" sz="3200" b="1">
                <a:solidFill>
                  <a:srgbClr val="02C39A"/>
                </a:solidFill>
              </a:rPr>
              <a:t>Architecture</a:t>
            </a:r>
            <a:endParaRPr lang="en-US" sz="3200" b="1" kern="0" spc="200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9A730-E8A3-9AC5-E339-E54A5A64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11" b="3827"/>
          <a:stretch>
            <a:fillRect/>
          </a:stretch>
        </p:blipFill>
        <p:spPr>
          <a:xfrm>
            <a:off x="2830590" y="885371"/>
            <a:ext cx="6523571" cy="56533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54166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kern="0" spc="200" dirty="0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1383" y="134258"/>
            <a:ext cx="10522857" cy="10392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02C39A"/>
                </a:solidFill>
                <a:latin typeface="Cambria"/>
                <a:ea typeface="Cambria"/>
              </a:rPr>
              <a:t>Project structure </a:t>
            </a:r>
            <a:endParaRPr lang="en-US">
              <a:solidFill>
                <a:srgbClr val="02C39A"/>
              </a:solidFill>
            </a:endParaRPr>
          </a:p>
        </p:txBody>
      </p:sp>
      <p:sp>
        <p:nvSpPr>
          <p:cNvPr id="46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D42E57D-A6F9-B5EB-54E2-DD216FE1E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35" t="9893" r="15228" b="11050"/>
          <a:stretch>
            <a:fillRect/>
          </a:stretch>
        </p:blipFill>
        <p:spPr>
          <a:xfrm>
            <a:off x="553131" y="1099911"/>
            <a:ext cx="4455526" cy="537112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8C08BA8-20D9-8785-46D3-D3CCB9075B60}"/>
              </a:ext>
            </a:extLst>
          </p:cNvPr>
          <p:cNvSpPr txBox="1"/>
          <p:nvPr/>
        </p:nvSpPr>
        <p:spPr>
          <a:xfrm>
            <a:off x="8811846" y="258884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D8330D-CED0-03F8-ED3B-01D867699FE0}"/>
              </a:ext>
            </a:extLst>
          </p:cNvPr>
          <p:cNvSpPr txBox="1"/>
          <p:nvPr/>
        </p:nvSpPr>
        <p:spPr>
          <a:xfrm>
            <a:off x="5310276" y="1016277"/>
            <a:ext cx="6603998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📥</a:t>
            </a:r>
            <a:r>
              <a:rPr lang="en-US" dirty="0">
                <a:solidFill>
                  <a:srgbClr val="02C39A"/>
                </a:solidFill>
                <a:ea typeface="+mn-lt"/>
                <a:cs typeface="+mn-lt"/>
              </a:rPr>
              <a:t> </a:t>
            </a:r>
            <a:r>
              <a:rPr lang="en-US" sz="2000" b="1">
                <a:solidFill>
                  <a:srgbClr val="02C39A"/>
                </a:solidFill>
                <a:ea typeface="+mn-lt"/>
                <a:cs typeface="+mn-lt"/>
              </a:rPr>
              <a:t>extract.py</a:t>
            </a:r>
            <a:b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Reads and loads data from multiple source formats.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⚙</a:t>
            </a:r>
            <a:r>
              <a:rPr lang="en-US" sz="2000" dirty="0">
                <a:solidFill>
                  <a:schemeClr val="accent5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b="1">
                <a:solidFill>
                  <a:srgbClr val="02C39A"/>
                </a:solidFill>
                <a:ea typeface="+mn-lt"/>
                <a:cs typeface="+mn-lt"/>
              </a:rPr>
              <a:t>transform.py</a:t>
            </a:r>
            <a:b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Validates, cleans, applies business rules, and performs feature engineering.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💾</a:t>
            </a:r>
            <a:r>
              <a:rPr lang="en-US" sz="2000" dirty="0">
                <a:solidFill>
                  <a:schemeClr val="accent5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b="1">
                <a:solidFill>
                  <a:srgbClr val="02C39A"/>
                </a:solidFill>
                <a:ea typeface="+mn-lt"/>
                <a:cs typeface="+mn-lt"/>
              </a:rPr>
              <a:t>load.py</a:t>
            </a:r>
            <a:b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Loads analytics-ready tables into SQLite.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02C39A"/>
                </a:solidFill>
                <a:ea typeface="+mn-lt"/>
                <a:cs typeface="+mn-lt"/>
              </a:rPr>
              <a:t>📊 </a:t>
            </a:r>
            <a:r>
              <a:rPr lang="en-US" sz="2000" b="1" dirty="0">
                <a:solidFill>
                  <a:srgbClr val="02C39A"/>
                </a:solidFill>
                <a:ea typeface="+mn-lt"/>
                <a:cs typeface="+mn-lt"/>
              </a:rPr>
              <a:t>dashboard.py</a:t>
            </a:r>
            <a:b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Builds interactive KPI dashboards using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Streamlit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⚙️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>
                <a:solidFill>
                  <a:srgbClr val="02C39A"/>
                </a:solidFill>
                <a:ea typeface="+mn-lt"/>
                <a:cs typeface="+mn-lt"/>
              </a:rPr>
              <a:t>config.py</a:t>
            </a:r>
            <a:b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Centralizes validation rules, mappings, and configuration.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rgbClr val="02C39A"/>
                </a:solidFill>
                <a:ea typeface="+mn-lt"/>
                <a:cs typeface="+mn-lt"/>
              </a:rPr>
              <a:t>🚀</a:t>
            </a:r>
            <a:r>
              <a:rPr lang="en-US" sz="2000" dirty="0">
                <a:solidFill>
                  <a:srgbClr val="02C39A"/>
                </a:solidFill>
                <a:ea typeface="+mn-lt"/>
                <a:cs typeface="+mn-lt"/>
              </a:rPr>
              <a:t> </a:t>
            </a:r>
            <a:r>
              <a:rPr lang="en-US" sz="2000" b="1">
                <a:solidFill>
                  <a:srgbClr val="02C39A"/>
                </a:solidFill>
                <a:ea typeface="+mn-lt"/>
                <a:cs typeface="+mn-lt"/>
              </a:rPr>
              <a:t>main.py</a:t>
            </a:r>
            <a:b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Coordinates the complete ETL workflow.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4C84D2-D078-98D5-77F5-4EEAFD37809C}"/>
              </a:ext>
            </a:extLst>
          </p:cNvPr>
          <p:cNvSpPr/>
          <p:nvPr/>
        </p:nvSpPr>
        <p:spPr>
          <a:xfrm>
            <a:off x="4263570" y="4976724"/>
            <a:ext cx="3129224" cy="10492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000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Dictionary of Pandas </a:t>
            </a:r>
            <a:r>
              <a:rPr lang="en-US" sz="2000" dirty="0" err="1">
                <a:solidFill>
                  <a:schemeClr val="tx1"/>
                </a:solidFill>
                <a:ea typeface="+mn-lt"/>
                <a:cs typeface="+mn-lt"/>
              </a:rPr>
              <a:t>DataFrames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B1C169-A88A-33A5-EAAE-66CCA8D5BE52}"/>
              </a:ext>
            </a:extLst>
          </p:cNvPr>
          <p:cNvSpPr/>
          <p:nvPr/>
        </p:nvSpPr>
        <p:spPr>
          <a:xfrm>
            <a:off x="4198254" y="3184209"/>
            <a:ext cx="3121967" cy="12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extract.py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05C4B7-52EF-EE81-D359-6666014BF420}"/>
              </a:ext>
            </a:extLst>
          </p:cNvPr>
          <p:cNvSpPr/>
          <p:nvPr/>
        </p:nvSpPr>
        <p:spPr>
          <a:xfrm>
            <a:off x="4198253" y="1711008"/>
            <a:ext cx="3114710" cy="9911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Multiple Data Sources</a:t>
            </a:r>
            <a:endParaRPr lang="en-US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333E591-679B-F49D-36E2-7BD80AD576D1}"/>
              </a:ext>
            </a:extLst>
          </p:cNvPr>
          <p:cNvCxnSpPr/>
          <p:nvPr/>
        </p:nvCxnSpPr>
        <p:spPr>
          <a:xfrm>
            <a:off x="5692390" y="2691842"/>
            <a:ext cx="7257" cy="493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02C4B7-660B-0213-7B6C-EF17083C3B26}"/>
              </a:ext>
            </a:extLst>
          </p:cNvPr>
          <p:cNvCxnSpPr/>
          <p:nvPr/>
        </p:nvCxnSpPr>
        <p:spPr>
          <a:xfrm>
            <a:off x="5690716" y="4445278"/>
            <a:ext cx="2512" cy="531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3252DAE0-4430-9D6E-8F2E-0D6E518FA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242006"/>
              </p:ext>
            </p:extLst>
          </p:nvPr>
        </p:nvGraphicFramePr>
        <p:xfrm>
          <a:off x="239486" y="1712685"/>
          <a:ext cx="3459846" cy="3557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923">
                  <a:extLst>
                    <a:ext uri="{9D8B030D-6E8A-4147-A177-3AD203B41FA5}">
                      <a16:colId xmlns:a16="http://schemas.microsoft.com/office/drawing/2014/main" val="1709828447"/>
                    </a:ext>
                  </a:extLst>
                </a:gridCol>
                <a:gridCol w="1729923">
                  <a:extLst>
                    <a:ext uri="{9D8B030D-6E8A-4147-A177-3AD203B41FA5}">
                      <a16:colId xmlns:a16="http://schemas.microsoft.com/office/drawing/2014/main" val="1649443936"/>
                    </a:ext>
                  </a:extLst>
                </a:gridCol>
              </a:tblGrid>
              <a:tr h="10453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Orders.csv  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Products.csv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62436"/>
                  </a:ext>
                </a:extLst>
              </a:tr>
              <a:tr h="12016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Customer.json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Returns.tsv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5565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Exchange_rate.json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0" i="0" u="none" strike="noStrike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Web Events.log</a:t>
                      </a:r>
                      <a:endParaRPr lang="en-US" sz="2000" b="1" i="0" u="none" strike="noStrike" noProof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977281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2A07E9AA-1E37-D8BF-6EB2-DDA558E865D3}"/>
              </a:ext>
            </a:extLst>
          </p:cNvPr>
          <p:cNvSpPr txBox="1"/>
          <p:nvPr/>
        </p:nvSpPr>
        <p:spPr>
          <a:xfrm>
            <a:off x="7768771" y="1691753"/>
            <a:ext cx="43180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📥 Read CSV, JSON, TSV &amp; LOG </a:t>
            </a: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🔄 Parse multiple file formats</a:t>
            </a:r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 📄 Convert into Pandas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DataFrames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📦 Return dictionary of tables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EDAA6E-C127-00E9-7215-F2EE52F0E370}"/>
              </a:ext>
            </a:extLst>
          </p:cNvPr>
          <p:cNvSpPr txBox="1"/>
          <p:nvPr/>
        </p:nvSpPr>
        <p:spPr>
          <a:xfrm>
            <a:off x="801636" y="1250182"/>
            <a:ext cx="2344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2C39A"/>
                </a:solidFill>
                <a:ea typeface="+mn-lt"/>
                <a:cs typeface="+mn-lt"/>
              </a:rPr>
              <a:t>Data Sources</a:t>
            </a:r>
            <a:r>
              <a:rPr lang="en-US" sz="2400" b="1" dirty="0">
                <a:solidFill>
                  <a:srgbClr val="02C39A"/>
                </a:solidFill>
                <a:ea typeface="+mn-lt"/>
                <a:cs typeface="+mn-lt"/>
              </a:rPr>
              <a:t> </a:t>
            </a:r>
            <a:endParaRPr lang="en-US" sz="2400" b="1" dirty="0">
              <a:solidFill>
                <a:srgbClr val="02C39A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9D3D17-D091-B1F3-2D19-A93FEE4E9BEF}"/>
              </a:ext>
            </a:extLst>
          </p:cNvPr>
          <p:cNvSpPr txBox="1"/>
          <p:nvPr/>
        </p:nvSpPr>
        <p:spPr>
          <a:xfrm>
            <a:off x="8260582" y="1209709"/>
            <a:ext cx="23368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2C39A"/>
                </a:solidFill>
                <a:ea typeface="+mn-lt"/>
                <a:cs typeface="+mn-lt"/>
              </a:rPr>
              <a:t>Responsibilities </a:t>
            </a:r>
            <a:endParaRPr lang="en-US" sz="2400" b="1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830100-39AA-79A7-9789-508C3DEC2CF8}"/>
              </a:ext>
            </a:extLst>
          </p:cNvPr>
          <p:cNvSpPr txBox="1"/>
          <p:nvPr/>
        </p:nvSpPr>
        <p:spPr>
          <a:xfrm>
            <a:off x="4656572" y="1213896"/>
            <a:ext cx="2743200" cy="4761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2C39A"/>
                </a:solidFill>
                <a:ea typeface="+mn-lt"/>
                <a:cs typeface="+mn-lt"/>
              </a:rPr>
              <a:t>Flow Diagram</a:t>
            </a:r>
            <a:endParaRPr lang="en-US" sz="2400" b="1">
              <a:solidFill>
                <a:srgbClr val="02C39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0D83F-2176-A60B-BB05-17F5A520F196}"/>
              </a:ext>
            </a:extLst>
          </p:cNvPr>
          <p:cNvSpPr txBox="1"/>
          <p:nvPr/>
        </p:nvSpPr>
        <p:spPr>
          <a:xfrm>
            <a:off x="340248" y="402772"/>
            <a:ext cx="46953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Calibri"/>
                <a:cs typeface="Calibri"/>
              </a:rPr>
              <a:t>Data Extraction Layer</a:t>
            </a:r>
            <a:endParaRPr lang="en-US" sz="3200">
              <a:solidFill>
                <a:srgbClr val="02C39A"/>
              </a:solidFill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DAA07E-1786-0842-5D1B-AF8E6AC490B3}"/>
              </a:ext>
            </a:extLst>
          </p:cNvPr>
          <p:cNvSpPr txBox="1"/>
          <p:nvPr/>
        </p:nvSpPr>
        <p:spPr>
          <a:xfrm>
            <a:off x="638350" y="284145"/>
            <a:ext cx="954314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Transformation Module Architecture</a:t>
            </a:r>
            <a:endParaRPr lang="en-US" sz="3200" b="1">
              <a:solidFill>
                <a:srgbClr val="02C39A"/>
              </a:solidFill>
              <a:ea typeface="Calibri"/>
              <a:cs typeface="Calibri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E99EA40-E7D1-855B-E604-56CDB40ED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76" y="972456"/>
            <a:ext cx="3494704" cy="542834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6BA0F5C-1B64-7A49-D372-B8C6319F4157}"/>
              </a:ext>
            </a:extLst>
          </p:cNvPr>
          <p:cNvSpPr txBox="1"/>
          <p:nvPr/>
        </p:nvSpPr>
        <p:spPr>
          <a:xfrm>
            <a:off x="7444153" y="258884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EEFD13-5306-A72D-3989-655D21B33AF0}"/>
              </a:ext>
            </a:extLst>
          </p:cNvPr>
          <p:cNvSpPr txBox="1"/>
          <p:nvPr/>
        </p:nvSpPr>
        <p:spPr>
          <a:xfrm>
            <a:off x="5068557" y="1132952"/>
            <a:ext cx="6125027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🏗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>
                <a:solidFill>
                  <a:srgbClr val="02C39A"/>
                </a:solidFill>
              </a:rPr>
              <a:t>Object-Oriented Design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Encapsulates all transformation logic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Maintains a reusable workflow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br>
              <a:rPr lang="en-US" dirty="0"/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</a:rPr>
              <a:t>📦 </a:t>
            </a:r>
            <a:r>
              <a:rPr lang="en-US" sz="2000" b="1">
                <a:solidFill>
                  <a:srgbClr val="02C39A"/>
                </a:solidFill>
              </a:rPr>
              <a:t>Shared State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self</a:t>
            </a:r>
            <a:r>
              <a:rPr lang="en-US" sz="20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.tables</a:t>
            </a:r>
            <a:endParaRPr lang="en-US" sz="2000" dirty="0" err="1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Stores all </a:t>
            </a:r>
            <a:r>
              <a:rPr lang="en-US" sz="20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DataFrames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throughout the ETL process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br>
              <a:rPr lang="en-US" dirty="0"/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/>
                </a:solidFill>
              </a:rPr>
              <a:t>📝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>
                <a:solidFill>
                  <a:srgbClr val="02C39A"/>
                </a:solidFill>
              </a:rPr>
              <a:t>Reject Logging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self.reject_logs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Captures invalid records without interrupting processing</a:t>
            </a:r>
          </a:p>
          <a:p>
            <a:pPr marL="285750" indent="-285750" algn="l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8326549-B99A-805B-95C9-E21AE9C71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41" r="-60" b="4292"/>
          <a:stretch>
            <a:fillRect/>
          </a:stretch>
        </p:blipFill>
        <p:spPr>
          <a:xfrm>
            <a:off x="457199" y="1067027"/>
            <a:ext cx="11277641" cy="53336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B6D8C4B-7719-7936-85AA-EC79B1501EC5}"/>
              </a:ext>
            </a:extLst>
          </p:cNvPr>
          <p:cNvSpPr txBox="1"/>
          <p:nvPr/>
        </p:nvSpPr>
        <p:spPr>
          <a:xfrm>
            <a:off x="334387" y="331317"/>
            <a:ext cx="7678056" cy="6065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Transformation Pipeline </a:t>
            </a:r>
            <a:endParaRPr lang="en-US" sz="3200">
              <a:solidFill>
                <a:srgbClr val="02C39A"/>
              </a:solidFill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D9B1A99-6206-7702-D717-83821E8ED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67" y="754742"/>
            <a:ext cx="5648583" cy="591457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D0219E9-0CFE-7CC5-C609-57C9C9AC4EA8}"/>
              </a:ext>
            </a:extLst>
          </p:cNvPr>
          <p:cNvSpPr txBox="1"/>
          <p:nvPr/>
        </p:nvSpPr>
        <p:spPr>
          <a:xfrm>
            <a:off x="331037" y="132582"/>
            <a:ext cx="49275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Reject Logging Mechanism</a:t>
            </a:r>
            <a:endParaRPr lang="en-US" sz="3200" b="1">
              <a:solidFill>
                <a:srgbClr val="02C39A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341634-ABDB-3165-9568-E7E73624DC45}"/>
              </a:ext>
            </a:extLst>
          </p:cNvPr>
          <p:cNvSpPr txBox="1"/>
          <p:nvPr/>
        </p:nvSpPr>
        <p:spPr>
          <a:xfrm>
            <a:off x="6224118" y="289725"/>
            <a:ext cx="5762170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🛡 </a:t>
            </a:r>
            <a:r>
              <a:rPr lang="en-US" b="1" dirty="0">
                <a:solidFill>
                  <a:srgbClr val="02C39A"/>
                </a:solidFill>
                <a:ea typeface="+mn-lt"/>
                <a:cs typeface="+mn-lt"/>
              </a:rPr>
              <a:t>Non-Blocking Processing 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Invalid records are isolated without interrupting the ETL workflow. 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Valid records continue through subsequent transformation stages. </a:t>
            </a: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📂 </a:t>
            </a:r>
            <a:r>
              <a:rPr lang="en-US" b="1" dirty="0">
                <a:solidFill>
                  <a:srgbClr val="02C39A"/>
                </a:solidFill>
                <a:ea typeface="+mn-lt"/>
                <a:cs typeface="+mn-lt"/>
              </a:rPr>
              <a:t>Table-wise Reject Storage 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Rejected rows are stored in separate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DataFrames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for each source table. 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self.reject_logs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maintains all rejected records throughout execution. </a:t>
            </a: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📝 </a:t>
            </a:r>
            <a:r>
              <a:rPr lang="en-US" b="1" dirty="0">
                <a:solidFill>
                  <a:srgbClr val="02C39A"/>
                </a:solidFill>
                <a:ea typeface="+mn-lt"/>
                <a:cs typeface="+mn-lt"/>
              </a:rPr>
              <a:t>Centralized Log Generation 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All reject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DataFrames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are traversed after ETL execution completes. 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• A 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consolidated reject_logs.log file is 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generated for auditing.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📊 </a:t>
            </a:r>
            <a:r>
              <a:rPr lang="en-US" b="1" dirty="0">
                <a:solidFill>
                  <a:srgbClr val="02C39A"/>
                </a:solidFill>
                <a:ea typeface="+mn-lt"/>
                <a:cs typeface="+mn-lt"/>
              </a:rPr>
              <a:t>Audit &amp; Traceability 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• Each 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rejected record includes its table name, row number, and reject reason. 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• Provides complete 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traceability for debugging and data quality analysis.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C87F6C-5610-3EF8-3574-E57565B3F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78" y="950685"/>
            <a:ext cx="6252731" cy="545011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A8C6CC3-3CAF-9793-9C47-743AFDB64FF2}"/>
              </a:ext>
            </a:extLst>
          </p:cNvPr>
          <p:cNvSpPr txBox="1"/>
          <p:nvPr/>
        </p:nvSpPr>
        <p:spPr>
          <a:xfrm>
            <a:off x="534237" y="205990"/>
            <a:ext cx="76490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Loading Layer &amp; Data Warehouse</a:t>
            </a:r>
            <a:endParaRPr lang="en-US" sz="3200" b="1">
              <a:solidFill>
                <a:srgbClr val="02C39A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6B8EEF-9AD2-1253-E0E0-28F4D1EF757F}"/>
              </a:ext>
            </a:extLst>
          </p:cNvPr>
          <p:cNvSpPr txBox="1"/>
          <p:nvPr/>
        </p:nvSpPr>
        <p:spPr>
          <a:xfrm>
            <a:off x="6930572" y="947057"/>
            <a:ext cx="4782457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💾 </a:t>
            </a:r>
            <a:r>
              <a:rPr lang="en-US" sz="2000" b="1">
                <a:solidFill>
                  <a:srgbClr val="02C39A"/>
                </a:solidFill>
              </a:rPr>
              <a:t>Data Loading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Loads analytics-ready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into SQLite. 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Each table is written using </a:t>
            </a:r>
            <a:r>
              <a:rPr lang="en-US" sz="2000" dirty="0" err="1">
                <a:solidFill>
                  <a:schemeClr val="bg1"/>
                </a:solidFill>
              </a:rPr>
              <a:t>pandas.to_sql</a:t>
            </a:r>
            <a:r>
              <a:rPr lang="en-US" sz="2000" dirty="0">
                <a:solidFill>
                  <a:schemeClr val="bg1"/>
                </a:solidFill>
              </a:rPr>
              <a:t>(). 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2000" b="1">
                <a:solidFill>
                  <a:schemeClr val="bg1"/>
                </a:solidFill>
              </a:rPr>
              <a:t>🗄</a:t>
            </a:r>
            <a:r>
              <a:rPr lang="en-US" sz="2000" b="1">
                <a:solidFill>
                  <a:srgbClr val="02C39A"/>
                </a:solidFill>
              </a:rPr>
              <a:t> Data Warehouse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Stores cleaned and transformed data in </a:t>
            </a:r>
            <a:r>
              <a:rPr lang="en-US" sz="2000" dirty="0" err="1">
                <a:solidFill>
                  <a:schemeClr val="bg1"/>
                </a:solidFill>
              </a:rPr>
              <a:t>etl_cart.db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Provides a centralized repository for analytics.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97D9D97-3E1A-BF27-1A4C-38DD5555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08" y="928914"/>
            <a:ext cx="3313096" cy="547188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35112B3-657E-173D-FE9D-5FED83221094}"/>
              </a:ext>
            </a:extLst>
          </p:cNvPr>
          <p:cNvSpPr txBox="1"/>
          <p:nvPr/>
        </p:nvSpPr>
        <p:spPr>
          <a:xfrm>
            <a:off x="5196114" y="656772"/>
            <a:ext cx="6357257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>
                <a:solidFill>
                  <a:schemeClr val="bg1"/>
                </a:solidFill>
              </a:rPr>
              <a:t>📊 </a:t>
            </a:r>
            <a:r>
              <a:rPr lang="en-US" sz="2000" b="1">
                <a:solidFill>
                  <a:srgbClr val="02C39A"/>
                </a:solidFill>
              </a:rPr>
              <a:t>Interactive Dashboard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Built using </a:t>
            </a:r>
            <a:r>
              <a:rPr lang="en-US" sz="2000" dirty="0" err="1">
                <a:solidFill>
                  <a:schemeClr val="bg1"/>
                </a:solidFill>
              </a:rPr>
              <a:t>Streamlit</a:t>
            </a:r>
            <a:r>
              <a:rPr lang="en-US" sz="2000" dirty="0">
                <a:solidFill>
                  <a:schemeClr val="bg1"/>
                </a:solidFill>
              </a:rPr>
              <a:t> for real-time analytics.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Provides an intuitive interface for business users.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>
                <a:solidFill>
                  <a:schemeClr val="bg1"/>
                </a:solidFill>
              </a:rPr>
              <a:t>🗄 </a:t>
            </a:r>
            <a:r>
              <a:rPr lang="en-US" sz="2000" b="1">
                <a:solidFill>
                  <a:srgbClr val="02C39A"/>
                </a:solidFill>
              </a:rPr>
              <a:t>Data Retrieval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Reads analytics tables directly from SQLite.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Executes SQL queries to compute KPIs.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>
                <a:solidFill>
                  <a:schemeClr val="bg1"/>
                </a:solidFill>
              </a:rPr>
              <a:t>📈 </a:t>
            </a:r>
            <a:r>
              <a:rPr lang="en-US" sz="2000" b="1">
                <a:solidFill>
                  <a:srgbClr val="02C39A"/>
                </a:solidFill>
              </a:rPr>
              <a:t>Visual Analytics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Displays interactive charts and KPI cards.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Enables quick exploration of sales performance.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>
                <a:solidFill>
                  <a:schemeClr val="bg1"/>
                </a:solidFill>
              </a:rPr>
              <a:t>🎯 </a:t>
            </a:r>
            <a:r>
              <a:rPr lang="en-US" sz="2000" b="1">
                <a:solidFill>
                  <a:srgbClr val="02C39A"/>
                </a:solidFill>
              </a:rPr>
              <a:t>Business Decision Support</a:t>
            </a:r>
            <a:endParaRPr lang="en-US" sz="2000" b="1">
              <a:solidFill>
                <a:srgbClr val="02C39A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Converts processed data into actionable insights.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Supports revenue, customer, and product analysis.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8C864A-12DA-49D5-D90B-EE3092853635}"/>
              </a:ext>
            </a:extLst>
          </p:cNvPr>
          <p:cNvSpPr txBox="1"/>
          <p:nvPr/>
        </p:nvSpPr>
        <p:spPr>
          <a:xfrm>
            <a:off x="643652" y="214923"/>
            <a:ext cx="70902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Dashboard Architecture</a:t>
            </a:r>
            <a:endParaRPr lang="en-US" sz="3200" b="1">
              <a:solidFill>
                <a:srgbClr val="02C39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BDA25DC-403D-9332-EDFA-767142956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2" y="1237031"/>
            <a:ext cx="11292115" cy="411542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26F2E2-9CF6-0073-0E52-91356B0EA0F2}"/>
              </a:ext>
            </a:extLst>
          </p:cNvPr>
          <p:cNvSpPr txBox="1"/>
          <p:nvPr/>
        </p:nvSpPr>
        <p:spPr>
          <a:xfrm>
            <a:off x="452176" y="375975"/>
            <a:ext cx="491308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Dashboard Analytics</a:t>
            </a:r>
            <a:endParaRPr lang="en-US" sz="3200" b="1">
              <a:solidFill>
                <a:srgbClr val="02C39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B8F4A-AE65-2881-6D46-3838D44C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2">
            <a:extLst>
              <a:ext uri="{FF2B5EF4-FFF2-40B4-BE49-F238E27FC236}">
                <a16:creationId xmlns:a16="http://schemas.microsoft.com/office/drawing/2014/main" id="{8C8E7009-4E1E-7A97-E3E1-646141041850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7A2FE-E80C-7553-CA49-4C797D242DA2}"/>
              </a:ext>
            </a:extLst>
          </p:cNvPr>
          <p:cNvSpPr txBox="1"/>
          <p:nvPr/>
        </p:nvSpPr>
        <p:spPr>
          <a:xfrm>
            <a:off x="452176" y="375975"/>
            <a:ext cx="491308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Dashboard Analytics</a:t>
            </a:r>
            <a:endParaRPr lang="en-US" sz="3200" b="1">
              <a:solidFill>
                <a:srgbClr val="02C39A"/>
              </a:solidFill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36298F-BCAB-788E-3644-8E828DB69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57" y="1426387"/>
            <a:ext cx="10559144" cy="400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5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6BE435-2317-3AD5-664A-150E4435483E}"/>
              </a:ext>
            </a:extLst>
          </p:cNvPr>
          <p:cNvSpPr txBox="1"/>
          <p:nvPr/>
        </p:nvSpPr>
        <p:spPr>
          <a:xfrm>
            <a:off x="315407" y="246743"/>
            <a:ext cx="61685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2C39A"/>
                </a:solidFill>
                <a:ea typeface="+mn-lt"/>
                <a:cs typeface="+mn-lt"/>
              </a:rPr>
              <a:t>Challenges &amp; Project Evolution</a:t>
            </a:r>
            <a:endParaRPr lang="en-US" sz="3200" b="1">
              <a:solidFill>
                <a:srgbClr val="02C39A"/>
              </a:solidFill>
              <a:ea typeface="Calibri"/>
              <a:cs typeface="Calibri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045881C-1DAF-39C4-E9BB-403BBD0CC5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745" t="-923" r="785" b="1055"/>
          <a:stretch>
            <a:fillRect/>
          </a:stretch>
        </p:blipFill>
        <p:spPr>
          <a:xfrm>
            <a:off x="1818039" y="979714"/>
            <a:ext cx="8396272" cy="54864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7373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novacart_etl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19431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CADCFC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b="1" kern="0" spc="100" dirty="0">
              <a:solidFill>
                <a:srgbClr val="02C39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816</cp:revision>
  <dcterms:created xsi:type="dcterms:W3CDTF">2026-07-20T09:15:31Z</dcterms:created>
  <dcterms:modified xsi:type="dcterms:W3CDTF">2026-07-20T18:42:11Z</dcterms:modified>
</cp:coreProperties>
</file>